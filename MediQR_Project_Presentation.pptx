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BF31D42-0514-FFC4-9E1C-C0393159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02"/>
            <a:ext cx="12020876" cy="6795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14630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/>
              </a:defRPr>
            </a:pPr>
            <a:r>
              <a:t>PROBLEM STATEMENT &amp; 3-TIER DECOUPLED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13232"/>
            <a:ext cx="1146017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841248"/>
            <a:ext cx="3931920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41248"/>
            <a:ext cx="393192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The Healthcare Crisis: Golden Hour Bottlenecks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5" y="1458589"/>
            <a:ext cx="3785615" cy="1984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 dirty="0">
                <a:solidFill>
                  <a:srgbClr val="B91C1C"/>
                </a:solidFill>
                <a:latin typeface="Arial"/>
              </a:rPr>
              <a:t>🚨 The 3-Minute Trap: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Roadside trauma victims are unconscious; EMTs lack vital blood group &amp; Penicillin allergy data.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00" b="1" dirty="0">
                <a:solidFill>
                  <a:srgbClr val="000000"/>
                </a:solidFill>
                <a:latin typeface="Arial"/>
              </a:rPr>
              <a:t>🔒 Data Silos: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Hospitals do not interoperate; central IT requests take 15–30 critical minutes.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00" b="1" dirty="0">
                <a:solidFill>
                  <a:srgbClr val="000000"/>
                </a:solidFill>
                <a:latin typeface="Arial"/>
              </a:rPr>
              <a:t>⚠️ Plain QR Leaks: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Raw paper QR codes violate HIPAA/privacy; central SQL databases invite ransomware &amp; insider alteration.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86200"/>
            <a:ext cx="393192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886200"/>
            <a:ext cx="393192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The MediQR Solution: Dual-Segment Smart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" y="4373955"/>
            <a:ext cx="3785615" cy="1984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 dirty="0">
                <a:solidFill>
                  <a:srgbClr val="166534"/>
                </a:solidFill>
                <a:latin typeface="Arial"/>
              </a:rPr>
              <a:t>⚡ Public Triage Front: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Scannable offline by any phone in &lt;1.84s; exposes only Blood Type (O-) &amp; critical allergies.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00" b="1" dirty="0">
                <a:solidFill>
                  <a:srgbClr val="000000"/>
                </a:solidFill>
                <a:latin typeface="Arial"/>
              </a:rPr>
              <a:t>🔐 Protected Vault Back: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Salted HMAC-SHA256 query pointer; decryptable only by verified doctors via hospital key.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00" b="1" dirty="0">
                <a:solidFill>
                  <a:srgbClr val="000000"/>
                </a:solidFill>
                <a:latin typeface="Arial"/>
              </a:rPr>
              <a:t>⛓️ Zero PII On-Chain: </a:t>
            </a:r>
            <a:r>
              <a:rPr sz="1200" dirty="0">
                <a:solidFill>
                  <a:srgbClr val="1E293B"/>
                </a:solidFill>
                <a:latin typeface="Calibri"/>
              </a:rPr>
              <a:t>Solidity ledger anchors 32-byte SHA-256 hash digests only; 100% HIPAA/DPDP compliant.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841248"/>
            <a:ext cx="7388352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841248"/>
            <a:ext cx="7388352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Fig. System Architecture: 3-Tier Decoupled Pipeline</a:t>
            </a:r>
          </a:p>
        </p:txBody>
      </p:sp>
      <p:pic>
        <p:nvPicPr>
          <p:cNvPr id="15" name="Picture 14" descr="Figure 4.1 System Architecture (3-Tier Decoupled Pipeline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88720"/>
            <a:ext cx="7205472" cy="33375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434840" y="4709160"/>
            <a:ext cx="7388352" cy="1874519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4709160"/>
            <a:ext cx="7388352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Working GUI Prototypes: Roadside Triage Terminal (&lt;1.8s) vs. Doctor Clinical Workstation</a:t>
            </a:r>
          </a:p>
        </p:txBody>
      </p:sp>
      <p:pic>
        <p:nvPicPr>
          <p:cNvPr id="18" name="Picture 17" descr="Figure 8.2 Screen shot roadside emergency triage 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5047488"/>
            <a:ext cx="1116945" cy="1463040"/>
          </a:xfrm>
          <a:prstGeom prst="rect">
            <a:avLst/>
          </a:prstGeom>
        </p:spPr>
      </p:pic>
      <p:pic>
        <p:nvPicPr>
          <p:cNvPr id="19" name="Picture 18" descr="Figure 8.3 Screen shot doctor clinical works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5047488"/>
            <a:ext cx="25603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14630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/>
              </a:defRPr>
            </a:pPr>
            <a:r>
              <a:t>TECHNICAL APPROACH &amp; DATA FLOW DIAGRAM (DFD LEVEL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13232"/>
            <a:ext cx="1146017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841248"/>
            <a:ext cx="11460175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41248"/>
            <a:ext cx="11460175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Fig. Level 1 Data Flow Diagram (DFD): Paramedic (1.0) ➔ Doctor (2.0) ➔ Encrypt (3.0) ➔ Solidity (4.0) ➔ Verify (5.0)</a:t>
            </a:r>
          </a:p>
        </p:txBody>
      </p:sp>
      <p:pic>
        <p:nvPicPr>
          <p:cNvPr id="9" name="Picture 8" descr="Figure 4.3 Data flow diagram Level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39" y="1168908"/>
            <a:ext cx="6808839" cy="3246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74199" y="4681728"/>
            <a:ext cx="43891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974199" y="4646922"/>
            <a:ext cx="438912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Core Tech Stack &amp; Cryptographic Primitives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4167" y="5087604"/>
            <a:ext cx="2011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326E"/>
                </a:solidFill>
                <a:latin typeface="Arial"/>
              </a:defRPr>
            </a:pPr>
            <a:r>
              <a:rPr dirty="0"/>
              <a:t>Solidity 0.8.20</a:t>
            </a:r>
          </a:p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rPr dirty="0"/>
              <a:t>EVM Smart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2813" y="5087604"/>
            <a:ext cx="2011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326E"/>
                </a:solidFill>
                <a:latin typeface="Arial"/>
              </a:defRPr>
            </a:pPr>
            <a:r>
              <a:rPr dirty="0"/>
              <a:t>AES-256-GCM</a:t>
            </a:r>
          </a:p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rPr dirty="0"/>
              <a:t>12B IV + 16B </a:t>
            </a:r>
            <a:r>
              <a:rPr dirty="0" err="1"/>
              <a:t>AuthTag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4084167" y="5664708"/>
            <a:ext cx="2011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326E"/>
                </a:solidFill>
                <a:latin typeface="Arial"/>
              </a:defRPr>
            </a:pPr>
            <a:r>
              <a:t>HMAC-SHA256</a:t>
            </a:r>
          </a:p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Salted Unlinkable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2813" y="5660923"/>
            <a:ext cx="2011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326E"/>
                </a:solidFill>
                <a:latin typeface="Arial"/>
              </a:defRPr>
            </a:pPr>
            <a:r>
              <a:rPr dirty="0"/>
              <a:t>Next.js 14</a:t>
            </a:r>
          </a:p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rPr dirty="0"/>
              <a:t>Web Crypto API in 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4167" y="6189554"/>
            <a:ext cx="2011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326E"/>
                </a:solidFill>
                <a:latin typeface="Arial"/>
              </a:defRPr>
            </a:pPr>
            <a:r>
              <a:rPr dirty="0"/>
              <a:t>Hardhat EVM</a:t>
            </a:r>
          </a:p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rPr dirty="0"/>
              <a:t>14/14 Unit Tests Pass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2813" y="6189554"/>
            <a:ext cx="20116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326E"/>
                </a:solidFill>
                <a:latin typeface="Arial"/>
              </a:defRPr>
            </a:pPr>
            <a:r>
              <a:t>Docker Nodes</a:t>
            </a:r>
          </a:p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Distributed Hospital 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14630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/>
              </a:defRPr>
            </a:pPr>
            <a:r>
              <a:t>SECURITY MODEL &amp; FORENSIC TAMPER DETECTION STATE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13232"/>
            <a:ext cx="1146017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841248"/>
            <a:ext cx="594360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41248"/>
            <a:ext cx="594360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Fig. Record Lifecycle State Machine: Draft ➔ Encrypt ➔ Anchor ➔ Verify or Block</a:t>
            </a:r>
          </a:p>
        </p:txBody>
      </p:sp>
      <p:pic>
        <p:nvPicPr>
          <p:cNvPr id="9" name="Picture 8" descr="Figure 4.11 UML state machine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760720" cy="4434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46520" y="841248"/>
            <a:ext cx="5379415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46520" y="841248"/>
            <a:ext cx="5379415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Fig. Forensic Tamper Alert (/admin &amp; /simulator): Single-Bit Mismatch Halts Decryption</a:t>
            </a:r>
          </a:p>
        </p:txBody>
      </p:sp>
      <p:pic>
        <p:nvPicPr>
          <p:cNvPr id="12" name="Picture 11" descr="Figure 8.4 Screen shot government commissioning appl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188720"/>
            <a:ext cx="5193792" cy="44348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65760" y="5806440"/>
            <a:ext cx="27889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B91C1C"/>
                </a:solidFill>
                <a:latin typeface="Arial"/>
              </a:defRPr>
            </a:pPr>
            <a:r>
              <a:t>✗ Privacy Leakage</a:t>
            </a:r>
          </a:p>
          <a:p>
            <a:pPr algn="ctr">
              <a:defRPr sz="800" b="1">
                <a:solidFill>
                  <a:srgbClr val="166534"/>
                </a:solidFill>
                <a:latin typeface="Calibri"/>
              </a:defRPr>
            </a:pPr>
            <a:r>
              <a:t>✓ Zero PII on-chain (SHA-256 only)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5264" y="5806440"/>
            <a:ext cx="27889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B91C1C"/>
                </a:solidFill>
                <a:latin typeface="Arial"/>
              </a:defRPr>
            </a:pPr>
            <a:r>
              <a:t>✗ Unconscious Victim</a:t>
            </a:r>
          </a:p>
          <a:p>
            <a:pPr algn="ctr">
              <a:defRPr sz="800" b="1">
                <a:solidFill>
                  <a:srgbClr val="166534"/>
                </a:solidFill>
                <a:latin typeface="Calibri"/>
              </a:defRPr>
            </a:pPr>
            <a:r>
              <a:t>✓ Dual-Segment Card (&lt;1.8s Triage)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5806440"/>
            <a:ext cx="27889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B91C1C"/>
                </a:solidFill>
                <a:latin typeface="Arial"/>
              </a:defRPr>
            </a:pPr>
            <a:r>
              <a:t>✗ Cross-Hospital Silos</a:t>
            </a:r>
          </a:p>
          <a:p>
            <a:pPr algn="ctr">
              <a:defRPr sz="800" b="1">
                <a:solidFill>
                  <a:srgbClr val="166534"/>
                </a:solidFill>
                <a:latin typeface="Calibri"/>
              </a:defRPr>
            </a:pPr>
            <a:r>
              <a:t>✓ Content-addressed ledger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4272" y="5806440"/>
            <a:ext cx="27889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B91C1C"/>
                </a:solidFill>
                <a:latin typeface="Arial"/>
              </a:defRPr>
            </a:pPr>
            <a:r>
              <a:t>✗ Database Tampering</a:t>
            </a:r>
          </a:p>
          <a:p>
            <a:pPr algn="ctr">
              <a:defRPr sz="800" b="1">
                <a:solidFill>
                  <a:srgbClr val="166534"/>
                </a:solidFill>
                <a:latin typeface="Calibri"/>
              </a:defRPr>
            </a:pPr>
            <a:r>
              <a:t>✓ 1-Bit mismatch halts decryption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14630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/>
              </a:defRPr>
            </a:pPr>
            <a:r>
              <a:t>PERFORMANCE BENCHMARKING &amp; OPERATIONAL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13232"/>
            <a:ext cx="1146017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841248"/>
            <a:ext cx="5760720" cy="57424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41248"/>
            <a:ext cx="576072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Fig. Empirical Benchmarks: 1.5s vs 900s Triage Latency &amp; 100% vs 0% Tamper Catch Rate</a:t>
            </a:r>
          </a:p>
        </p:txBody>
      </p:sp>
      <p:pic>
        <p:nvPicPr>
          <p:cNvPr id="9" name="Picture 8" descr="Figure 8.1 Benchmarking Visual 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577840" cy="5303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841248"/>
            <a:ext cx="5562295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841248"/>
            <a:ext cx="5562295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Verified Performance &amp; Cryptographic Assurance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260604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326E"/>
                </a:solidFill>
                <a:latin typeface="Arial"/>
              </a:defRPr>
            </a:pPr>
            <a:r>
              <a:t>⚡ &lt; 1.84 s</a:t>
            </a:r>
          </a:p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Triage Retrieval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188720"/>
            <a:ext cx="260604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326E"/>
                </a:solidFill>
                <a:latin typeface="Arial"/>
              </a:defRPr>
            </a:pPr>
            <a:r>
              <a:t>🔒 0 Bytes</a:t>
            </a:r>
          </a:p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PII Stored On-Chain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260604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326E"/>
                </a:solidFill>
                <a:latin typeface="Arial"/>
              </a:defRPr>
            </a:pPr>
            <a:r>
              <a:t>🛡️ 100%</a:t>
            </a:r>
          </a:p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Tamper Detection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2011680"/>
            <a:ext cx="260604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326E"/>
                </a:solidFill>
                <a:latin typeface="Arial"/>
              </a:defRPr>
            </a:pPr>
            <a:r>
              <a:t>⚡ 14.2 ms</a:t>
            </a:r>
          </a:p>
          <a:p>
            <a:pPr algn="ctr">
              <a:defRPr sz="800" b="1">
                <a:solidFill>
                  <a:srgbClr val="000000"/>
                </a:solidFill>
                <a:latin typeface="Calibri"/>
              </a:defRPr>
            </a:pPr>
            <a:r>
              <a:t>In-Browser Web Crypto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63240"/>
            <a:ext cx="5562295" cy="35204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063240"/>
            <a:ext cx="5562295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Conventional Centralized EHR vs. MediQR Decentralized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474720"/>
            <a:ext cx="1600200" cy="594360"/>
          </a:xfrm>
          <a:prstGeom prst="rect">
            <a:avLst/>
          </a:prstGeom>
          <a:solidFill>
            <a:srgbClr val="F1F5F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Centralized EHR</a:t>
            </a:r>
            <a:br/>
            <a:r>
              <a:t>(Isolated DB)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474720"/>
            <a:ext cx="1691640" cy="594360"/>
          </a:xfrm>
          <a:prstGeom prst="rect">
            <a:avLst/>
          </a:prstGeom>
          <a:solidFill>
            <a:srgbClr val="F1F5F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Manual Login / IT Gate</a:t>
            </a:r>
            <a:br/>
            <a:r>
              <a:t>(Locked Phone Fails)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3474720"/>
            <a:ext cx="1463040" cy="594360"/>
          </a:xfrm>
          <a:prstGeom prst="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B91C1C"/>
                </a:solidFill>
              </a:defRPr>
            </a:pPr>
            <a:r>
              <a:t>✗ 15-30m Delay</a:t>
            </a:r>
            <a:br/>
            <a:r>
              <a:t>High Trauma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51960"/>
            <a:ext cx="1600200" cy="594360"/>
          </a:xfrm>
          <a:prstGeom prst="rect">
            <a:avLst/>
          </a:prstGeom>
          <a:solidFill>
            <a:srgbClr val="F1F5F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Dual-Segment MediQR</a:t>
            </a:r>
            <a:br/>
            <a:r>
              <a:t>(Public + Vault)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4251960"/>
            <a:ext cx="1691640" cy="594360"/>
          </a:xfrm>
          <a:prstGeom prst="rect">
            <a:avLst/>
          </a:prstGeom>
          <a:solidFill>
            <a:srgbClr val="F1F5F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Roadside Scan (&lt;1.8s)</a:t>
            </a:r>
            <a:br/>
            <a:r>
              <a:t>+ Doctor Biometrics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4251960"/>
            <a:ext cx="1463040" cy="594360"/>
          </a:xfrm>
          <a:prstGeom prst="rect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6534"/>
                </a:solidFill>
              </a:defRPr>
            </a:pPr>
            <a:r>
              <a:t>✓ Verified Record</a:t>
            </a:r>
            <a:br/>
            <a:r>
              <a:t>Golden Hr Saved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46720" y="3657600"/>
            <a:ext cx="182880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10012680" y="3657600"/>
            <a:ext cx="182880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8046720" y="4434840"/>
            <a:ext cx="182880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10012680" y="4434840"/>
            <a:ext cx="182880" cy="164592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502920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E326E"/>
                </a:solidFill>
                <a:latin typeface="Arial"/>
              </a:defRPr>
            </a:pPr>
            <a:r>
              <a:t>Key Takeaway:</a:t>
            </a:r>
            <a:br/>
            <a:r>
              <a:rPr sz="850">
                <a:solidFill>
                  <a:srgbClr val="0F172A"/>
                </a:solidFill>
                <a:latin typeface="Calibri"/>
              </a:rPr>
              <a:t>MediQR decouples urgent roadside life-support data from confidential lifetime medical history. Paramedics get instant data without passwords; doctors get verified tamper-proof dossiers. Zero central database honeypot exists.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91640" y="146304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/>
              </a:defRPr>
            </a:pPr>
            <a:r>
              <a:t>UML COMPONENT ARCHITECTURE &amp; VALIDATION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13232"/>
            <a:ext cx="1146017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841248"/>
            <a:ext cx="6583680" cy="5349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41248"/>
            <a:ext cx="6583680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Fig. UML 2.0 Component Diagram: Web Client, Storage Appliances &amp; EVM Node</a:t>
            </a:r>
          </a:p>
        </p:txBody>
      </p:sp>
      <p:pic>
        <p:nvPicPr>
          <p:cNvPr id="9" name="Picture 8" descr="Figure 4.9 UML component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4937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32320" y="841248"/>
            <a:ext cx="4693615" cy="3291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0" y="841248"/>
            <a:ext cx="4693615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Phased Implementation &amp; Validation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42048" y="1207008"/>
            <a:ext cx="44805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19" b="1">
                <a:solidFill>
                  <a:srgbClr val="0E326E"/>
                </a:solidFill>
                <a:latin typeface="Arial"/>
              </a:defRPr>
            </a:pPr>
            <a:r>
              <a:t>Phase 1: Cryptography &amp; Smart Contract (DONE)</a:t>
            </a:r>
          </a:p>
          <a:p>
            <a:pPr>
              <a:defRPr sz="750">
                <a:solidFill>
                  <a:srgbClr val="0F172A"/>
                </a:solidFill>
                <a:latin typeface="Calibri"/>
              </a:defRPr>
            </a:pPr>
            <a:r>
              <a:t>✓ MedicalRecordLedger.sol deployed on EVM.</a:t>
            </a:r>
            <a:br/>
            <a:r>
              <a:t>✓ AES-256-GCM + Salted HMAC test suite.</a:t>
            </a:r>
            <a:br/>
            <a:r>
              <a:t>*Milestone 1: Zero-PII contract verified on Hardhat.*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42048" y="2167128"/>
            <a:ext cx="44805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19" b="1">
                <a:solidFill>
                  <a:srgbClr val="0E326E"/>
                </a:solidFill>
                <a:latin typeface="Arial"/>
              </a:defRPr>
            </a:pPr>
            <a:r>
              <a:t>Phase 2: Full-Stack Clinical Portals (DONE)</a:t>
            </a:r>
          </a:p>
          <a:p>
            <a:pPr>
              <a:defRPr sz="750">
                <a:solidFill>
                  <a:srgbClr val="0F172A"/>
                </a:solidFill>
                <a:latin typeface="Calibri"/>
              </a:defRPr>
            </a:pPr>
            <a:r>
              <a:t>✓ Roadside Emergency Terminal (/emergency).</a:t>
            </a:r>
            <a:br/>
            <a:r>
              <a:t>✓ Doctor Workstation with Biometrics (/doctor).</a:t>
            </a:r>
            <a:br/>
            <a:r>
              <a:t>*Milestone 2: Sub-2s offline triage verified.*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42048" y="3127248"/>
            <a:ext cx="44805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19" b="1">
                <a:solidFill>
                  <a:srgbClr val="0E326E"/>
                </a:solidFill>
                <a:latin typeface="Arial"/>
              </a:defRPr>
            </a:pPr>
            <a:r>
              <a:t>Phase 3: Field Hardening &amp; Kiosks (IN PROGRESS)</a:t>
            </a:r>
          </a:p>
          <a:p>
            <a:pPr>
              <a:defRPr sz="750">
                <a:solidFill>
                  <a:srgbClr val="0F172A"/>
                </a:solidFill>
                <a:latin typeface="Calibri"/>
              </a:defRPr>
            </a:pPr>
            <a:r>
              <a:t>✓ Forensic Tamper Simulation Lab (/simulator).</a:t>
            </a:r>
            <a:br/>
            <a:r>
              <a:t>✓ ESP32 IoT Ambulance mini-terminal &amp; ABHA connector.</a:t>
            </a:r>
            <a:br/>
            <a:r>
              <a:t>*Milestone 3: Ready for state emergency fleets.*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4206240"/>
            <a:ext cx="4693615" cy="1984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0" y="4206240"/>
            <a:ext cx="4693615" cy="292608"/>
          </a:xfrm>
          <a:prstGeom prst="rect">
            <a:avLst/>
          </a:prstGeom>
          <a:solidFill>
            <a:srgbClr val="F1F5F9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0000"/>
                </a:solidFill>
                <a:latin typeface="Arial"/>
              </a:defRPr>
            </a:pPr>
            <a:r>
              <a:t>Experimental Validation Datasets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2048" y="4553712"/>
            <a:ext cx="21945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1,000+ Synthetic Profiles</a:t>
            </a:r>
          </a:p>
          <a:p>
            <a:pPr algn="ctr">
              <a:defRPr sz="720">
                <a:solidFill>
                  <a:srgbClr val="475569"/>
                </a:solidFill>
                <a:latin typeface="Calibri"/>
              </a:defRPr>
            </a:pPr>
            <a:r>
              <a:t>24 Clinical specialties (JSON/HL7)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8048" y="4553712"/>
            <a:ext cx="21945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Hardhat 14/14 Unit Tests</a:t>
            </a:r>
          </a:p>
          <a:p>
            <a:pPr algn="ctr">
              <a:defRPr sz="720">
                <a:solidFill>
                  <a:srgbClr val="475569"/>
                </a:solidFill>
                <a:latin typeface="Calibri"/>
              </a:defRPr>
            </a:pPr>
            <a:r>
              <a:t>100% Assertion Pass | 62k gas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5330952"/>
            <a:ext cx="21945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10k Forensic Mutations</a:t>
            </a:r>
          </a:p>
          <a:p>
            <a:pPr algn="ctr">
              <a:defRPr sz="720">
                <a:solidFill>
                  <a:srgbClr val="475569"/>
                </a:solidFill>
                <a:latin typeface="Calibri"/>
              </a:defRPr>
            </a:pPr>
            <a:r>
              <a:t>100% Single-bit detection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8048" y="5330952"/>
            <a:ext cx="21945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Multi-Hospital Nodes</a:t>
            </a:r>
          </a:p>
          <a:p>
            <a:pPr algn="ctr">
              <a:defRPr sz="720">
                <a:solidFill>
                  <a:srgbClr val="475569"/>
                </a:solidFill>
                <a:latin typeface="Calibri"/>
              </a:defRPr>
            </a:pPr>
            <a:r>
              <a:t>Node A (:5001) &amp; Node B (:5002)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291072"/>
            <a:ext cx="11460175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All smart contracts, cryptographic primitives, clinical portals &amp; forensic verification engines are implemented in the MediQR prototype.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683</Words>
  <Application>Microsoft Office PowerPoint</Application>
  <PresentationFormat>Widescreen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Soham Bhale</cp:lastModifiedBy>
  <cp:revision>4</cp:revision>
  <dcterms:created xsi:type="dcterms:W3CDTF">2013-01-27T09:14:16Z</dcterms:created>
  <dcterms:modified xsi:type="dcterms:W3CDTF">2026-10-29T18:37:33Z</dcterms:modified>
  <cp:category/>
</cp:coreProperties>
</file>